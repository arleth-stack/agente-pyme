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1"/>
    <p:sldId id="257" r:id="rIdS2"/>
    <p:sldId id="261" r:id="rIdS3"/>
    <p:sldId id="262" r:id="rIdS4"/>
    <p:sldId id="263" r:id="rIdS5"/>
    <p:sldId id="264" r:id="rIdS6"/>
    <p:sldId id="258" r:id="rIdS7"/>
    <p:sldId id="259" r:id="rIdS8"/>
    <p:sldId id="260" r:id="rIdS9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1 · Propósito (≈1.5 min)
- Presenta el proyecto y a ti en 10 segundos.
- Lee el pitch de una frase tal cual.
- Problema: muestra evidencia (entrevistas, datos, casos reales), no suposiciones.
- Usuario: quién lo usa y quién lo paga, si son distintos.
- Propuesta de valor: compara contra la alternativa actual del cliente (Excel, WhatsApp manual, otra herramienta).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2 · El MVP (≈1.5 min)
- Solo funcionalidades que existen y se pueden demostrar hoy; lo planeado va en la diapositiva 5.
- El flujo debe poder seguirse de punta a punta en la demo.
- "Fuera de alcance" demuestra que acotaste el MVP a propósito.
- Ten la demo abierta y lista antes de empezar.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3 · Arquitectura (≈1.5 min)
- Recorre el diagrama siguiendo una petición real: del usuario al dato guardado y de regreso.
- Justifica cada elección del stack en una frase (por qué esto y no otra cosa).
- Si usas IA: qué modelo, para qué paso exacto y por qué no se resolvió con reglas.
- Repositorio: link con README que permita levantar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4 · Implementación (≈2 min)
- No leas las tarjetas: elige las 2 o 3 decisiones técnicas más importantes y explica el porqué.
- Si un bloque no aplica a tu MVP, escribe "No aplica" y explica brevemente por qué.
- Ten a la mano el esquema de base de datos o el código por si te lo piden.
- Sé honesto sobre lo que está "a mano" o simulado.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5 · Estado y cierre (≈1.5 min)
- El % de avance debe ser contra el alcance definido en la diapositiva 2, no contra la visión completa.
- La métrica clave es la que demuestra que el MVP aporta valor (tiempo ahorrado, leads atendidos, conversión, etc.).
- Próximos pasos: máximo 3, cada uno con fecha.
- Cierra con una petición concreta para el Director.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4754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GrowthLab · Presentación de proyecto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GrowthLab · Presentación de proyecto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S1_1" Type="http://schemas.openxmlformats.org/officeDocument/2006/relationships/slideLayout" Target="../slideLayouts/slideLayout2.xml"/><Relationship Id="rS1_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S2_1" Type="http://schemas.openxmlformats.org/officeDocument/2006/relationships/slideLayout" Target="../slideLayouts/slideLayout3.xml"/><Relationship Id="rS2_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S3_1" Type="http://schemas.openxmlformats.org/officeDocument/2006/relationships/slideLayout" Target="../slideLayouts/slideLayout3.xml"/><Relationship Id="rS3_2" Type="http://schemas.openxmlformats.org/officeDocument/2006/relationships/image" Target="../media/image1.jpg"/><Relationship Id="rS3_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S4_1" Type="http://schemas.openxmlformats.org/officeDocument/2006/relationships/slideLayout" Target="../slideLayouts/slideLayout3.xml"/><Relationship Id="rS4_2" Type="http://schemas.openxmlformats.org/officeDocument/2006/relationships/image" Target="../media/image3.jpg"/><Relationship Id="rS4_3" Type="http://schemas.openxmlformats.org/officeDocument/2006/relationships/image" Target="../media/image4.jpg"/><Relationship Id="rS4_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S5_1" Type="http://schemas.openxmlformats.org/officeDocument/2006/relationships/slideLayout" Target="../slideLayouts/slideLayout3.xml"/><Relationship Id="rS5_2" Type="http://schemas.openxmlformats.org/officeDocument/2006/relationships/image" Target="../media/image6.jpg"/><Relationship Id="rS5_3" Type="http://schemas.openxmlformats.org/officeDocument/2006/relationships/image" Target="../media/image7.jpg"/><Relationship Id="rS5_4" Type="http://schemas.openxmlformats.org/officeDocument/2006/relationships/image" Target="../media/image8.jpg"/><Relationship Id="rS5_5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S6_1" Type="http://schemas.openxmlformats.org/officeDocument/2006/relationships/slideLayout" Target="../slideLayouts/slideLayout3.xml"/><Relationship Id="rS6_2" Type="http://schemas.openxmlformats.org/officeDocument/2006/relationships/image" Target="../media/image10.jpg"/><Relationship Id="rS6_3" Type="http://schemas.openxmlformats.org/officeDocument/2006/relationships/image" Target="../media/image11.jpg"/><Relationship Id="rS6_4" Type="http://schemas.openxmlformats.org/officeDocument/2006/relationships/image" Target="../media/image12.jpg"/><Relationship Id="rS6_5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S7_1" Type="http://schemas.openxmlformats.org/officeDocument/2006/relationships/slideLayout" Target="../slideLayouts/slideLayout3.xml"/><Relationship Id="rS7_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S8_1" Type="http://schemas.openxmlformats.org/officeDocument/2006/relationships/slideLayout" Target="../slideLayouts/slideLayout3.xml"/><Relationship Id="rS8_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S9_1" Type="http://schemas.openxmlformats.org/officeDocument/2006/relationships/slideLayout" Target="../slideLayouts/slideLayout3.xml"/><Relationship Id="rS9_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ext 0"/>
          <p:cNvSpPr/>
          <p:nvPr>
            <p:ph idx="100" type="title" hasCustomPrompt="1"/>
          </p:nvPr>
        </p:nvSpPr>
        <p:spPr>
          <a:xfrm>
            <a:off x="457200" y="502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WhatsApp contesta solo</a:t>
            </a:r>
            <a:endParaRPr lang="en-US" sz="3400" dirty="0"/>
          </a:p>
        </p:txBody>
      </p:sp>
      <p:sp>
        <p:nvSpPr>
          <p:cNvPr id="1003" name="Text 1"/>
          <p:cNvSpPr txBox="1"/>
          <p:nvPr/>
        </p:nvSpPr>
        <p:spPr>
          <a:xfrm>
            <a:off x="45720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Arleth Alejandra Caballero Gutiérrez · 23 oct 2026</a:t>
            </a:r>
            <a:endParaRPr lang="en-US" sz="1400" dirty="0"/>
          </a:p>
        </p:txBody>
      </p:sp>
      <p:sp>
        <p:nvSpPr>
          <p:cNvPr id="1004" name="Text 2"/>
          <p:cNvSpPr txBox="1"/>
          <p:nvPr/>
        </p:nvSpPr>
        <p:spPr>
          <a:xfrm>
            <a:off x="457200" y="2148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PITCH EN UNA FRASE</a:t>
            </a:r>
            <a:endParaRPr lang="en-US" sz="1100" dirty="0"/>
          </a:p>
        </p:txBody>
      </p:sp>
      <p:sp>
        <p:nvSpPr>
          <p:cNvPr id="1005" name="Text 3"/>
          <p:cNvSpPr txBox="1"/>
          <p:nvPr/>
        </p:nvSpPr>
        <p:spPr>
          <a:xfrm>
            <a:off x="457200" y="2468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Tu WhatsApp contesta solo ayuda a PyMEs a no perder clientes por no contestar, con un chat que responde con sus palabras y les avisa.</a:t>
            </a:r>
            <a:endParaRPr lang="en-US" sz="2000" dirty="0"/>
          </a:p>
        </p:txBody>
      </p:sp>
      <p:sp>
        <p:nvSpPr>
          <p:cNvPr id="1006" name="Text 4"/>
          <p:cNvSpPr txBox="1"/>
          <p:nvPr/>
        </p:nvSpPr>
        <p:spPr>
          <a:xfrm>
            <a:off x="4572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2026-544-16 · agente-pyme-merkatics.vercel.app</a:t>
            </a:r>
            <a:endParaRPr lang="en-US" sz="1100" dirty="0"/>
          </a:p>
        </p:txBody>
      </p:sp>
      <p:sp>
        <p:nvSpPr>
          <p:cNvPr id="1007" name="Propósito 1"/>
          <p:cNvSpPr/>
          <p:nvPr/>
        </p:nvSpPr>
        <p:spPr>
          <a:xfrm>
            <a:off x="5486400" y="502920"/>
            <a:ext cx="3200400" cy="118872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08" name="Text 6"/>
          <p:cNvSpPr txBox="1"/>
          <p:nvPr/>
        </p:nvSpPr>
        <p:spPr>
          <a:xfrm>
            <a:off x="5650992" y="66751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1009" name="Text 7"/>
          <p:cNvSpPr txBox="1"/>
          <p:nvPr/>
        </p:nvSpPr>
        <p:spPr>
          <a:xfrm>
            <a:off x="6080760" y="658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Problema</a:t>
            </a:r>
            <a:endParaRPr lang="en-US" sz="1500" dirty="0"/>
          </a:p>
        </p:txBody>
      </p:sp>
      <p:sp>
        <p:nvSpPr>
          <p:cNvPr id="1010" name="Text 8"/>
          <p:cNvSpPr txBox="1"/>
          <p:nvPr/>
        </p:nvSpPr>
        <p:spPr>
          <a:xfrm>
            <a:off x="5650992" y="10698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Sin recepcionista, la PyME no contesta WhatsApp de noche o mientras atiende, y el cliente se va con otro.</a:t>
            </a:r>
            <a:endParaRPr lang="en-US" sz="1200" dirty="0"/>
          </a:p>
        </p:txBody>
      </p:sp>
      <p:sp>
        <p:nvSpPr>
          <p:cNvPr id="1011" name="Propósito 2"/>
          <p:cNvSpPr/>
          <p:nvPr/>
        </p:nvSpPr>
        <p:spPr>
          <a:xfrm>
            <a:off x="5486400" y="1874520"/>
            <a:ext cx="3200400" cy="118872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12" name="Text 10"/>
          <p:cNvSpPr txBox="1"/>
          <p:nvPr/>
        </p:nvSpPr>
        <p:spPr>
          <a:xfrm>
            <a:off x="5650992" y="203911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013" name="Text 11"/>
          <p:cNvSpPr txBox="1"/>
          <p:nvPr/>
        </p:nvSpPr>
        <p:spPr>
          <a:xfrm>
            <a:off x="608076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Usuario objetivo</a:t>
            </a:r>
            <a:endParaRPr lang="en-US" sz="1500" dirty="0"/>
          </a:p>
        </p:txBody>
      </p:sp>
      <p:sp>
        <p:nvSpPr>
          <p:cNvPr id="1014" name="Text 12"/>
          <p:cNvSpPr txBox="1"/>
          <p:nvPr/>
        </p:nvSpPr>
        <p:spPr>
          <a:xfrm>
            <a:off x="5650992" y="24414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Dueño no técnico de consultorio, salón, taller o gimnasio. Lo usan el dueño y sus clientes; paga el dueño.</a:t>
            </a:r>
            <a:endParaRPr lang="en-US" sz="1200" dirty="0"/>
          </a:p>
        </p:txBody>
      </p:sp>
      <p:sp>
        <p:nvSpPr>
          <p:cNvPr id="1015" name="Propósito 3"/>
          <p:cNvSpPr/>
          <p:nvPr/>
        </p:nvSpPr>
        <p:spPr>
          <a:xfrm>
            <a:off x="5486400" y="3246120"/>
            <a:ext cx="3200400" cy="118872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16" name="Text 14"/>
          <p:cNvSpPr txBox="1"/>
          <p:nvPr/>
        </p:nvSpPr>
        <p:spPr>
          <a:xfrm>
            <a:off x="5650992" y="341071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1017" name="Text 15"/>
          <p:cNvSpPr txBox="1"/>
          <p:nvPr/>
        </p:nvSpPr>
        <p:spPr>
          <a:xfrm>
            <a:off x="6080760" y="3401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Propuesta de valor</a:t>
            </a:r>
            <a:endParaRPr lang="en-US" sz="1500" dirty="0"/>
          </a:p>
        </p:txBody>
      </p:sp>
      <p:sp>
        <p:nvSpPr>
          <p:cNvPr id="1018" name="Text 16"/>
          <p:cNvSpPr txBox="1"/>
          <p:nvPr/>
        </p:nvSpPr>
        <p:spPr>
          <a:xfrm>
            <a:off x="5650992" y="3813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Se configura en 4 pasos, nunca inventa (usa el texto del dueño) y le avisa cuando algo le toca a él.</a:t>
            </a:r>
            <a:endParaRPr lang="en-US" sz="1200" dirty="0"/>
          </a:p>
        </p:txBody>
      </p:sp>
      <p:sp>
        <p:nvSpPr>
          <p:cNvPr id="1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MVP: qué hace hoy</a:t>
            </a:r>
            <a:endParaRPr lang="en-US" sz="2800" dirty="0"/>
          </a:p>
        </p:txBody>
      </p:sp>
      <p:sp>
        <p:nvSpPr>
          <p:cNvPr id="2003" name="Text 1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FUNCIONALIDADES CORE (solo lo que ya funciona)</a:t>
            </a:r>
            <a:endParaRPr lang="en-US" sz="1100" dirty="0"/>
          </a:p>
        </p:txBody>
      </p:sp>
      <p:sp>
        <p:nvSpPr>
          <p:cNvPr id="2004" name="Funcionalidad 1"/>
          <p:cNvSpPr/>
          <p:nvPr/>
        </p:nvSpPr>
        <p:spPr>
          <a:xfrm>
            <a:off x="457200" y="1325880"/>
            <a:ext cx="261518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05" name="Text 3"/>
          <p:cNvSpPr txBox="1"/>
          <p:nvPr/>
        </p:nvSpPr>
        <p:spPr>
          <a:xfrm>
            <a:off x="621792" y="14813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2006" name="Text 4"/>
          <p:cNvSpPr txBox="1"/>
          <p:nvPr/>
        </p:nvSpPr>
        <p:spPr>
          <a:xfrm>
            <a:off x="105156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Crear mi negocio</a:t>
            </a:r>
            <a:endParaRPr lang="en-US" sz="1500" dirty="0"/>
          </a:p>
        </p:txBody>
      </p:sp>
      <p:sp>
        <p:nvSpPr>
          <p:cNvPr id="2007" name="Text 5"/>
          <p:cNvSpPr txBox="1"/>
          <p:nvPr/>
        </p:nvSpPr>
        <p:spPr>
          <a:xfrm>
            <a:off x="621792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Formulario de 4 pasos con las preguntas de su giro y un ejemplo de respuesta.</a:t>
            </a:r>
            <a:endParaRPr lang="en-US" sz="1200" dirty="0"/>
          </a:p>
        </p:txBody>
      </p:sp>
      <p:sp>
        <p:nvSpPr>
          <p:cNvPr id="2008" name="Funcionalidad 2"/>
          <p:cNvSpPr/>
          <p:nvPr/>
        </p:nvSpPr>
        <p:spPr>
          <a:xfrm>
            <a:off x="3264408" y="1325880"/>
            <a:ext cx="261518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09" name="Text 7"/>
          <p:cNvSpPr txBox="1"/>
          <p:nvPr/>
        </p:nvSpPr>
        <p:spPr>
          <a:xfrm>
            <a:off x="3429000" y="14813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2010" name="Text 8"/>
          <p:cNvSpPr txBox="1"/>
          <p:nvPr/>
        </p:nvSpPr>
        <p:spPr>
          <a:xfrm>
            <a:off x="3858768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Chat que contesta</a:t>
            </a:r>
            <a:endParaRPr lang="en-US" sz="1500" dirty="0"/>
          </a:p>
        </p:txBody>
      </p:sp>
      <p:sp>
        <p:nvSpPr>
          <p:cNvPr id="2011" name="Text 9"/>
          <p:cNvSpPr txBox="1"/>
          <p:nvPr/>
        </p:nvSpPr>
        <p:spPr>
          <a:xfrm>
            <a:off x="342900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Responde con las preguntas del negocio, entiende sinónimos y sabe si está abierto.</a:t>
            </a:r>
            <a:endParaRPr lang="en-US" sz="1200" dirty="0"/>
          </a:p>
        </p:txBody>
      </p:sp>
      <p:sp>
        <p:nvSpPr>
          <p:cNvPr id="2012" name="Funcionalidad 3"/>
          <p:cNvSpPr/>
          <p:nvPr/>
        </p:nvSpPr>
        <p:spPr>
          <a:xfrm>
            <a:off x="6071616" y="1325880"/>
            <a:ext cx="261518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13" name="Text 11"/>
          <p:cNvSpPr txBox="1"/>
          <p:nvPr/>
        </p:nvSpPr>
        <p:spPr>
          <a:xfrm>
            <a:off x="6236208" y="14813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2014" name="Text 12"/>
          <p:cNvSpPr txBox="1"/>
          <p:nvPr/>
        </p:nvSpPr>
        <p:spPr>
          <a:xfrm>
            <a:off x="6665976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Avisos y panel</a:t>
            </a:r>
            <a:endParaRPr lang="en-US" sz="1500" dirty="0"/>
          </a:p>
        </p:txBody>
      </p:sp>
      <p:sp>
        <p:nvSpPr>
          <p:cNvPr id="2015" name="Text 13"/>
          <p:cNvSpPr txBox="1"/>
          <p:nvPr/>
        </p:nvSpPr>
        <p:spPr>
          <a:xfrm>
            <a:off x="6236208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Avisa citas, quejas y dudas; el dueño contesta en su panel. 3 negocios aislados.</a:t>
            </a:r>
            <a:endParaRPr lang="en-US" sz="1200" dirty="0"/>
          </a:p>
        </p:txBody>
      </p:sp>
      <p:sp>
        <p:nvSpPr>
          <p:cNvPr id="2016" name="Text 14"/>
          <p:cNvSpPr txBox="1"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FLUJO DEL USUARIO (de inicio a resultado)</a:t>
            </a:r>
            <a:endParaRPr lang="en-US" sz="1100" dirty="0"/>
          </a:p>
        </p:txBody>
      </p:sp>
      <p:sp>
        <p:nvSpPr>
          <p:cNvPr id="2017" name="Text 15"/>
          <p:cNvSpPr txBox="1"/>
          <p:nvPr/>
        </p:nvSpPr>
        <p:spPr>
          <a:xfrm>
            <a:off x="457200" y="3200400"/>
            <a:ext cx="2011680" cy="685800"/>
          </a:xfrm>
          <a:prstGeom prst="chevron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Cliente abre el enlace</a:t>
            </a:r>
            <a:endParaRPr lang="en-US" sz="1200" dirty="0"/>
          </a:p>
        </p:txBody>
      </p:sp>
      <p:sp>
        <p:nvSpPr>
          <p:cNvPr id="2018" name="Text 16"/>
          <p:cNvSpPr txBox="1"/>
          <p:nvPr/>
        </p:nvSpPr>
        <p:spPr>
          <a:xfrm>
            <a:off x="2532888" y="3200400"/>
            <a:ext cx="2011680" cy="685800"/>
          </a:xfrm>
          <a:prstGeom prst="chevron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Escribe su pregunta</a:t>
            </a:r>
            <a:endParaRPr lang="en-US" sz="1200" dirty="0"/>
          </a:p>
        </p:txBody>
      </p:sp>
      <p:sp>
        <p:nvSpPr>
          <p:cNvPr id="2019" name="Text 17"/>
          <p:cNvSpPr txBox="1"/>
          <p:nvPr/>
        </p:nvSpPr>
        <p:spPr>
          <a:xfrm>
            <a:off x="4608576" y="3200400"/>
            <a:ext cx="2011680" cy="685800"/>
          </a:xfrm>
          <a:prstGeom prst="chevron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Busca la respuesta</a:t>
            </a:r>
            <a:endParaRPr lang="en-US" sz="1200" dirty="0"/>
          </a:p>
        </p:txBody>
      </p:sp>
      <p:sp>
        <p:nvSpPr>
          <p:cNvPr id="2020" name="Text 18"/>
          <p:cNvSpPr txBox="1"/>
          <p:nvPr/>
        </p:nvSpPr>
        <p:spPr>
          <a:xfrm>
            <a:off x="6684264" y="3200400"/>
            <a:ext cx="2011680" cy="685800"/>
          </a:xfrm>
          <a:prstGeom prst="chevron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Contesta o avisa al dueño</a:t>
            </a:r>
            <a:endParaRPr lang="en-US" sz="1200" dirty="0"/>
          </a:p>
        </p:txBody>
      </p:sp>
      <p:sp>
        <p:nvSpPr>
          <p:cNvPr id="2021" name="Text 19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Demo: </a:t>
            </a:r>
            <a:r>
              <a:rPr lang="en-US" sz="1300" dirty="0">
                <a:solidFill>
                  <a:schemeClr val="tx2"/>
                </a:solidFill>
              </a:rPr>
              <a:t>agente-pyme-merkatics.vercel.app</a:t>
            </a:r>
            <a:r>
              <a:rPr lang="en-US" sz="1300" b="1" dirty="0">
                <a:solidFill>
                  <a:schemeClr val="tx2"/>
                </a:solidFill>
              </a:rPr>
              <a:t>     Fuera de alcance: </a:t>
            </a:r>
            <a:r>
              <a:rPr lang="en-US" sz="1300" dirty="0">
                <a:solidFill>
                  <a:schemeClr val="tx2"/>
                </a:solidFill>
              </a:rPr>
              <a:t>WhatsApp real, CRM y cobros</a:t>
            </a:r>
            <a:endParaRPr lang="en-US" sz="1300" dirty="0"/>
          </a:p>
        </p:txBody>
      </p:sp>
      <p:sp>
        <p:nvSpPr>
          <p:cNvPr id="2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01" name=""/>
        <p:cNvGrpSpPr/>
        <p:nvPr/>
      </p:nvGrpSpPr>
      <p:grpSpPr/>
      <p:sp>
        <p:nvSpPr>
          <p:cNvPr id="300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Capturas: la página de inicio</a:t>
            </a:r>
            <a:endParaRPr lang="en-US" sz="2800" dirty="0"/>
          </a:p>
        </p:txBody>
      </p:sp>
      <p:sp>
        <p:nvSpPr>
          <p:cNvPr id="300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LA PUERTA DE ENTRADA A MERKATICS (escritorio)</a:t>
            </a:r>
            <a:endParaRPr lang="en-US" sz="1100" dirty="0"/>
          </a:p>
        </p:txBody>
      </p:sp>
      <p:sp>
        <p:nvSpPr>
          <p:cNvPr id="3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  <p:pic>
        <p:nvPicPr>
          <p:cNvPr id="3026" name="Picture 25" descr="01-inicio-portada.jpg"/>
          <p:cNvPicPr>
            <a:picLocks noChangeAspect="1"/>
          </p:cNvPicPr>
          <p:nvPr/>
        </p:nvPicPr>
        <p:blipFill>
          <a:blip r:embed="rS3_2"/>
          <a:stretch>
            <a:fillRect/>
          </a:stretch>
        </p:blipFill>
        <p:spPr>
          <a:xfrm>
            <a:off x="457200" y="1234440"/>
            <a:ext cx="3977639" cy="2486024"/>
          </a:xfrm>
          <a:prstGeom prst="rect">
            <a:avLst/>
          </a:prstGeom>
        </p:spPr>
      </p:pic>
      <p:pic>
        <p:nvPicPr>
          <p:cNvPr id="3027" name="Picture 26" descr="02-inicio-demo-viva.jpg"/>
          <p:cNvPicPr>
            <a:picLocks noChangeAspect="1"/>
          </p:cNvPicPr>
          <p:nvPr/>
        </p:nvPicPr>
        <p:blipFill>
          <a:blip r:embed="rS3_3"/>
          <a:stretch>
            <a:fillRect/>
          </a:stretch>
        </p:blipFill>
        <p:spPr>
          <a:xfrm>
            <a:off x="4709160" y="1234440"/>
            <a:ext cx="3977639" cy="2486024"/>
          </a:xfrm>
          <a:prstGeom prst="rect">
            <a:avLst/>
          </a:prstGeom>
        </p:spPr>
      </p:pic>
      <p:sp>
        <p:nvSpPr>
          <p:cNvPr id="3028" name="TextBox 27"/>
          <p:cNvSpPr txBox="1"/>
          <p:nvPr/>
        </p:nvSpPr>
        <p:spPr>
          <a:xfrm>
            <a:off x="457200" y="379476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Portada: el mensaje de las 11:42 p. m. contestado</a:t>
            </a:r>
          </a:p>
        </p:txBody>
      </p:sp>
      <p:sp>
        <p:nvSpPr>
          <p:cNvPr id="3029" name="TextBox 28"/>
          <p:cNvSpPr txBox="1"/>
          <p:nvPr/>
        </p:nvSpPr>
        <p:spPr>
          <a:xfrm>
            <a:off x="4709160" y="379476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Pruébalo como cliente: demo viva con el chat real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01" name=""/>
        <p:cNvGrpSpPr/>
        <p:nvPr/>
      </p:nvGrpSpPr>
      <p:grpSpPr/>
      <p:sp>
        <p:nvSpPr>
          <p:cNvPr id="400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Capturas: el chat del cliente</a:t>
            </a:r>
            <a:endParaRPr lang="en-US" sz="2800" dirty="0"/>
          </a:p>
        </p:txBody>
      </p:sp>
      <p:sp>
        <p:nvSpPr>
          <p:cNvPr id="400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LO QUE VE EL CLIENTE EN SU CELULAR</a:t>
            </a:r>
            <a:endParaRPr lang="en-US" sz="1100" dirty="0"/>
          </a:p>
        </p:txBody>
      </p:sp>
      <p:sp>
        <p:nvSpPr>
          <p:cNvPr id="4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4026" name="Picture 25" descr="04-chat-bienvenida-recorte.jpg"/>
          <p:cNvPicPr>
            <a:picLocks noChangeAspect="1"/>
          </p:cNvPicPr>
          <p:nvPr/>
        </p:nvPicPr>
        <p:blipFill>
          <a:blip r:embed="rS4_2"/>
          <a:stretch>
            <a:fillRect/>
          </a:stretch>
        </p:blipFill>
        <p:spPr>
          <a:xfrm>
            <a:off x="457200" y="1188720"/>
            <a:ext cx="1394352" cy="3017520"/>
          </a:xfrm>
          <a:prstGeom prst="rect">
            <a:avLst/>
          </a:prstGeom>
        </p:spPr>
      </p:pic>
      <p:sp>
        <p:nvSpPr>
          <p:cNvPr id="4027" name="TextBox 26"/>
          <p:cNvSpPr txBox="1"/>
          <p:nvPr/>
        </p:nvSpPr>
        <p:spPr>
          <a:xfrm>
            <a:off x="365760" y="4279392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Bienvenida según el giro</a:t>
            </a:r>
          </a:p>
        </p:txBody>
      </p:sp>
      <p:pic>
        <p:nvPicPr>
          <p:cNvPr id="4028" name="Picture 27" descr="05-chat-preguntas-y-menu-recorte.jpg"/>
          <p:cNvPicPr>
            <a:picLocks noChangeAspect="1"/>
          </p:cNvPicPr>
          <p:nvPr/>
        </p:nvPicPr>
        <p:blipFill>
          <a:blip r:embed="rS4_3"/>
          <a:stretch>
            <a:fillRect/>
          </a:stretch>
        </p:blipFill>
        <p:spPr>
          <a:xfrm>
            <a:off x="2240280" y="1188720"/>
            <a:ext cx="1394352" cy="3017520"/>
          </a:xfrm>
          <a:prstGeom prst="rect">
            <a:avLst/>
          </a:prstGeom>
        </p:spPr>
      </p:pic>
      <p:sp>
        <p:nvSpPr>
          <p:cNvPr id="4029" name="TextBox 28"/>
          <p:cNvSpPr txBox="1"/>
          <p:nvPr/>
        </p:nvSpPr>
        <p:spPr>
          <a:xfrm>
            <a:off x="2148840" y="4279392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Precios y menú de opciones</a:t>
            </a:r>
          </a:p>
        </p:txBody>
      </p:sp>
      <p:pic>
        <p:nvPicPr>
          <p:cNvPr id="4030" name="Picture 29" descr="06-chat-aviso-y-cita-recorte.jpg"/>
          <p:cNvPicPr>
            <a:picLocks noChangeAspect="1"/>
          </p:cNvPicPr>
          <p:nvPr/>
        </p:nvPicPr>
        <p:blipFill>
          <a:blip r:embed="rS4_4"/>
          <a:stretch>
            <a:fillRect/>
          </a:stretch>
        </p:blipFill>
        <p:spPr>
          <a:xfrm>
            <a:off x="4023360" y="1188720"/>
            <a:ext cx="1394352" cy="3017520"/>
          </a:xfrm>
          <a:prstGeom prst="rect">
            <a:avLst/>
          </a:prstGeom>
        </p:spPr>
      </p:pic>
      <p:sp>
        <p:nvSpPr>
          <p:cNvPr id="4031" name="TextBox 30"/>
          <p:cNvSpPr txBox="1"/>
          <p:nvPr/>
        </p:nvSpPr>
        <p:spPr>
          <a:xfrm>
            <a:off x="3931920" y="4279392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Pide cita: avisa al dueño</a:t>
            </a:r>
          </a:p>
        </p:txBody>
      </p:sp>
      <p:sp>
        <p:nvSpPr>
          <p:cNvPr id="4032" name="TextBox 31"/>
          <p:cNvSpPr txBox="1"/>
          <p:nvPr/>
        </p:nvSpPr>
        <p:spPr>
          <a:xfrm>
            <a:off x="5852160" y="146304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2A3D"/>
                </a:solidFill>
              </a:rPr>
              <a:t>Contesta con el texto exacto del dueño, entiende sinónimos y preguntas generales, y ofrece botones para tocar.</a:t>
            </a:r>
          </a:p>
        </p:txBody>
      </p:sp>
      <p:sp>
        <p:nvSpPr>
          <p:cNvPr id="4033" name="TextBox 32"/>
          <p:cNvSpPr txBox="1"/>
          <p:nvPr/>
        </p:nvSpPr>
        <p:spPr>
          <a:xfrm>
            <a:off x="5852160" y="265176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Si algo le toca al dueño (cita, queja, persona o una pregunta que no sabe), le avisa en su panel y sigue atendiendo al cliente.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01" name=""/>
        <p:cNvGrpSpPr/>
        <p:nvPr/>
      </p:nvGrpSpPr>
      <p:grpSpPr/>
      <p:sp>
        <p:nvSpPr>
          <p:cNvPr id="500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Capturas: crear mi negocio</a:t>
            </a:r>
            <a:endParaRPr lang="en-US" sz="2800" dirty="0"/>
          </a:p>
        </p:txBody>
      </p:sp>
      <p:sp>
        <p:nvSpPr>
          <p:cNvPr id="500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FORMULARIO DE 4 PASOS (celular)</a:t>
            </a:r>
            <a:endParaRPr lang="en-US" sz="1100" dirty="0"/>
          </a:p>
        </p:txBody>
      </p:sp>
      <p:sp>
        <p:nvSpPr>
          <p:cNvPr id="5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  <p:pic>
        <p:nvPicPr>
          <p:cNvPr id="5026" name="Picture 25" descr="07-crear-paso1-recorte.jpg"/>
          <p:cNvPicPr>
            <a:picLocks noChangeAspect="1"/>
          </p:cNvPicPr>
          <p:nvPr/>
        </p:nvPicPr>
        <p:blipFill>
          <a:blip r:embed="rS5_2"/>
          <a:stretch>
            <a:fillRect/>
          </a:stretch>
        </p:blipFill>
        <p:spPr>
          <a:xfrm>
            <a:off x="749808" y="1188720"/>
            <a:ext cx="1394352" cy="3017520"/>
          </a:xfrm>
          <a:prstGeom prst="rect">
            <a:avLst/>
          </a:prstGeom>
        </p:spPr>
      </p:pic>
      <p:sp>
        <p:nvSpPr>
          <p:cNvPr id="5027" name="TextBox 26"/>
          <p:cNvSpPr txBox="1"/>
          <p:nvPr/>
        </p:nvSpPr>
        <p:spPr>
          <a:xfrm>
            <a:off x="457200" y="4279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2A3D"/>
                </a:solidFill>
              </a:rPr>
              <a:t>1 · Tu negocio</a:t>
            </a:r>
          </a:p>
        </p:txBody>
      </p:sp>
      <p:pic>
        <p:nvPicPr>
          <p:cNvPr id="5028" name="Picture 27" descr="08-crear-paso2-horario-recorte.jpg"/>
          <p:cNvPicPr>
            <a:picLocks noChangeAspect="1"/>
          </p:cNvPicPr>
          <p:nvPr/>
        </p:nvPicPr>
        <p:blipFill>
          <a:blip r:embed="rS5_3"/>
          <a:stretch>
            <a:fillRect/>
          </a:stretch>
        </p:blipFill>
        <p:spPr>
          <a:xfrm>
            <a:off x="2852927" y="1188720"/>
            <a:ext cx="1394352" cy="3017520"/>
          </a:xfrm>
          <a:prstGeom prst="rect">
            <a:avLst/>
          </a:prstGeom>
        </p:spPr>
      </p:pic>
      <p:sp>
        <p:nvSpPr>
          <p:cNvPr id="5029" name="TextBox 28"/>
          <p:cNvSpPr txBox="1"/>
          <p:nvPr/>
        </p:nvSpPr>
        <p:spPr>
          <a:xfrm>
            <a:off x="2560320" y="4279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2A3D"/>
                </a:solidFill>
              </a:rPr>
              <a:t>2 · Horario</a:t>
            </a:r>
          </a:p>
        </p:txBody>
      </p:sp>
      <p:pic>
        <p:nvPicPr>
          <p:cNvPr id="5030" name="Picture 29" descr="09-crear-paso3-preguntas-recorte.jpg"/>
          <p:cNvPicPr>
            <a:picLocks noChangeAspect="1"/>
          </p:cNvPicPr>
          <p:nvPr/>
        </p:nvPicPr>
        <p:blipFill>
          <a:blip r:embed="rS5_4"/>
          <a:stretch>
            <a:fillRect/>
          </a:stretch>
        </p:blipFill>
        <p:spPr>
          <a:xfrm>
            <a:off x="4956048" y="1188720"/>
            <a:ext cx="1394352" cy="3017520"/>
          </a:xfrm>
          <a:prstGeom prst="rect">
            <a:avLst/>
          </a:prstGeom>
        </p:spPr>
      </p:pic>
      <p:sp>
        <p:nvSpPr>
          <p:cNvPr id="5031" name="TextBox 30"/>
          <p:cNvSpPr txBox="1"/>
          <p:nvPr/>
        </p:nvSpPr>
        <p:spPr>
          <a:xfrm>
            <a:off x="4663440" y="4279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2A3D"/>
                </a:solidFill>
              </a:rPr>
              <a:t>3 · Preguntas</a:t>
            </a:r>
          </a:p>
        </p:txBody>
      </p:sp>
      <p:pic>
        <p:nvPicPr>
          <p:cNvPr id="5032" name="Picture 31" descr="10-crear-paso4-cuenta-recorte.jpg"/>
          <p:cNvPicPr>
            <a:picLocks noChangeAspect="1"/>
          </p:cNvPicPr>
          <p:nvPr/>
        </p:nvPicPr>
        <p:blipFill>
          <a:blip r:embed="rS5_5"/>
          <a:stretch>
            <a:fillRect/>
          </a:stretch>
        </p:blipFill>
        <p:spPr>
          <a:xfrm>
            <a:off x="7059168" y="1188720"/>
            <a:ext cx="1394352" cy="3017520"/>
          </a:xfrm>
          <a:prstGeom prst="rect">
            <a:avLst/>
          </a:prstGeom>
        </p:spPr>
      </p:pic>
      <p:sp>
        <p:nvSpPr>
          <p:cNvPr id="5033" name="TextBox 32"/>
          <p:cNvSpPr txBox="1"/>
          <p:nvPr/>
        </p:nvSpPr>
        <p:spPr>
          <a:xfrm>
            <a:off x="6766559" y="4279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2A3D"/>
                </a:solidFill>
              </a:rPr>
              <a:t>4 · Tu cuenta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001" name=""/>
        <p:cNvGrpSpPr/>
        <p:nvPr/>
      </p:nvGrpSpPr>
      <p:grpSpPr/>
      <p:sp>
        <p:nvSpPr>
          <p:cNvPr id="600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Capturas: el panel del dueño</a:t>
            </a:r>
            <a:endParaRPr lang="en-US" sz="2800" dirty="0"/>
          </a:p>
        </p:txBody>
      </p:sp>
      <p:sp>
        <p:nvSpPr>
          <p:cNvPr id="600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LO QUE VE EL DUEÑO (Consultorio Dental Sonrisa Clara)</a:t>
            </a:r>
            <a:endParaRPr lang="en-US" sz="1100" dirty="0"/>
          </a:p>
        </p:txBody>
      </p:sp>
      <p:sp>
        <p:nvSpPr>
          <p:cNvPr id="6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6026" name="Picture 25" descr="13-panel-conversaciones.jpg"/>
          <p:cNvPicPr>
            <a:picLocks noChangeAspect="1"/>
          </p:cNvPicPr>
          <p:nvPr/>
        </p:nvPicPr>
        <p:blipFill>
          <a:blip r:embed="rS6_2"/>
          <a:stretch>
            <a:fillRect/>
          </a:stretch>
        </p:blipFill>
        <p:spPr>
          <a:xfrm>
            <a:off x="457200" y="1188720"/>
            <a:ext cx="1950720" cy="1463040"/>
          </a:xfrm>
          <a:prstGeom prst="rect">
            <a:avLst/>
          </a:prstGeom>
        </p:spPr>
      </p:pic>
      <p:sp>
        <p:nvSpPr>
          <p:cNvPr id="6027" name="TextBox 26"/>
          <p:cNvSpPr txBox="1"/>
          <p:nvPr/>
        </p:nvSpPr>
        <p:spPr>
          <a:xfrm>
            <a:off x="457200" y="2670048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Conversaciones: lo urgente arriba</a:t>
            </a:r>
          </a:p>
        </p:txBody>
      </p:sp>
      <p:pic>
        <p:nvPicPr>
          <p:cNvPr id="6028" name="Picture 27" descr="14-panel-conversacion-abierta.jpg"/>
          <p:cNvPicPr>
            <a:picLocks noChangeAspect="1"/>
          </p:cNvPicPr>
          <p:nvPr/>
        </p:nvPicPr>
        <p:blipFill>
          <a:blip r:embed="rS6_3"/>
          <a:stretch>
            <a:fillRect/>
          </a:stretch>
        </p:blipFill>
        <p:spPr>
          <a:xfrm>
            <a:off x="2971800" y="1188720"/>
            <a:ext cx="1950720" cy="1463040"/>
          </a:xfrm>
          <a:prstGeom prst="rect">
            <a:avLst/>
          </a:prstGeom>
        </p:spPr>
      </p:pic>
      <p:sp>
        <p:nvSpPr>
          <p:cNvPr id="6029" name="TextBox 28"/>
          <p:cNvSpPr txBox="1"/>
          <p:nvPr/>
        </p:nvSpPr>
        <p:spPr>
          <a:xfrm>
            <a:off x="2971800" y="2670048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Contesta desde el panel</a:t>
            </a:r>
          </a:p>
        </p:txBody>
      </p:sp>
      <p:pic>
        <p:nvPicPr>
          <p:cNvPr id="6030" name="Picture 29" descr="15-panel-preguntas.jpg"/>
          <p:cNvPicPr>
            <a:picLocks noChangeAspect="1"/>
          </p:cNvPicPr>
          <p:nvPr/>
        </p:nvPicPr>
        <p:blipFill>
          <a:blip r:embed="rS6_4"/>
          <a:stretch>
            <a:fillRect/>
          </a:stretch>
        </p:blipFill>
        <p:spPr>
          <a:xfrm>
            <a:off x="457200" y="2971800"/>
            <a:ext cx="1950720" cy="1463040"/>
          </a:xfrm>
          <a:prstGeom prst="rect">
            <a:avLst/>
          </a:prstGeom>
        </p:spPr>
      </p:pic>
      <p:sp>
        <p:nvSpPr>
          <p:cNvPr id="6031" name="TextBox 30"/>
          <p:cNvSpPr txBox="1"/>
          <p:nvPr/>
        </p:nvSpPr>
        <p:spPr>
          <a:xfrm>
            <a:off x="457200" y="4453128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Sus preguntas frecuentes</a:t>
            </a:r>
          </a:p>
        </p:txBody>
      </p:sp>
      <p:pic>
        <p:nvPicPr>
          <p:cNvPr id="6032" name="Picture 31" descr="17-panel-aislamiento.jpg"/>
          <p:cNvPicPr>
            <a:picLocks noChangeAspect="1"/>
          </p:cNvPicPr>
          <p:nvPr/>
        </p:nvPicPr>
        <p:blipFill>
          <a:blip r:embed="rS6_5"/>
          <a:stretch>
            <a:fillRect/>
          </a:stretch>
        </p:blipFill>
        <p:spPr>
          <a:xfrm>
            <a:off x="2971800" y="2971800"/>
            <a:ext cx="1950720" cy="1463040"/>
          </a:xfrm>
          <a:prstGeom prst="rect">
            <a:avLst/>
          </a:prstGeom>
        </p:spPr>
      </p:pic>
      <p:sp>
        <p:nvSpPr>
          <p:cNvPr id="6033" name="TextBox 32"/>
          <p:cNvSpPr txBox="1"/>
          <p:nvPr/>
        </p:nvSpPr>
        <p:spPr>
          <a:xfrm>
            <a:off x="2971800" y="4453128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Aislamiento: 0 datos ajenos</a:t>
            </a:r>
          </a:p>
        </p:txBody>
      </p:sp>
      <p:sp>
        <p:nvSpPr>
          <p:cNvPr id="6034" name="TextBox 33"/>
          <p:cNvSpPr txBox="1"/>
          <p:nvPr/>
        </p:nvSpPr>
        <p:spPr>
          <a:xfrm>
            <a:off x="5577840" y="14630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2A3D"/>
                </a:solidFill>
              </a:rPr>
              <a:t>El dueño ve primero lo que lo necesita, con el motivo del aviso.</a:t>
            </a:r>
          </a:p>
        </p:txBody>
      </p:sp>
      <p:sp>
        <p:nvSpPr>
          <p:cNvPr id="6035" name="TextBox 34"/>
          <p:cNvSpPr txBox="1"/>
          <p:nvPr/>
        </p:nvSpPr>
        <p:spPr>
          <a:xfrm>
            <a:off x="5577840" y="23774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Contesta en el mismo chat, marca como resuelto, edita sus preguntas y su horario, y puede comprobar que ningún otro negocio ve sus datos.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7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técnica</a:t>
            </a:r>
            <a:endParaRPr lang="en-US" sz="2800" dirty="0"/>
          </a:p>
        </p:txBody>
      </p:sp>
      <p:sp>
        <p:nvSpPr>
          <p:cNvPr id="7003" name="Usuario"/>
          <p:cNvSpPr/>
          <p:nvPr/>
        </p:nvSpPr>
        <p:spPr>
          <a:xfrm>
            <a:off x="457200" y="1234440"/>
            <a:ext cx="12344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004" name="Text 2"/>
          <p:cNvSpPr txBox="1"/>
          <p:nvPr/>
        </p:nvSpPr>
        <p:spPr>
          <a:xfrm>
            <a:off x="566928" y="132588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Usuario</a:t>
            </a:r>
            <a:endParaRPr lang="en-US" sz="1300" dirty="0"/>
          </a:p>
        </p:txBody>
      </p:sp>
      <p:sp>
        <p:nvSpPr>
          <p:cNvPr id="7005" name="Text 3"/>
          <p:cNvSpPr txBox="1"/>
          <p:nvPr/>
        </p:nvSpPr>
        <p:spPr>
          <a:xfrm>
            <a:off x="566928" y="1618488"/>
            <a:ext cx="101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Web: chat por enlace</a:t>
            </a:r>
            <a:endParaRPr lang="en-US" sz="1100" dirty="0"/>
          </a:p>
        </p:txBody>
      </p:sp>
      <p:sp>
        <p:nvSpPr>
          <p:cNvPr id="7006" name="Frontend"/>
          <p:cNvSpPr/>
          <p:nvPr/>
        </p:nvSpPr>
        <p:spPr>
          <a:xfrm>
            <a:off x="2057400" y="1234440"/>
            <a:ext cx="123444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007" name="Text 5"/>
          <p:cNvSpPr txBox="1"/>
          <p:nvPr/>
        </p:nvSpPr>
        <p:spPr>
          <a:xfrm>
            <a:off x="2167128" y="132588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Frontend</a:t>
            </a:r>
            <a:endParaRPr lang="en-US" sz="1300" dirty="0"/>
          </a:p>
        </p:txBody>
      </p:sp>
      <p:sp>
        <p:nvSpPr>
          <p:cNvPr id="7008" name="Text 6"/>
          <p:cNvSpPr txBox="1"/>
          <p:nvPr/>
        </p:nvSpPr>
        <p:spPr>
          <a:xfrm>
            <a:off x="2167128" y="1618488"/>
            <a:ext cx="101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HTML, CSS y JS con Vite</a:t>
            </a:r>
            <a:endParaRPr lang="en-US" sz="1100" dirty="0"/>
          </a:p>
        </p:txBody>
      </p:sp>
      <p:sp>
        <p:nvSpPr>
          <p:cNvPr id="7009" name="Backend / API"/>
          <p:cNvSpPr/>
          <p:nvPr/>
        </p:nvSpPr>
        <p:spPr>
          <a:xfrm>
            <a:off x="3657600" y="1234440"/>
            <a:ext cx="123444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010" name="Text 8"/>
          <p:cNvSpPr txBox="1"/>
          <p:nvPr/>
        </p:nvSpPr>
        <p:spPr>
          <a:xfrm>
            <a:off x="3767328" y="132588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Backend</a:t>
            </a:r>
            <a:endParaRPr lang="en-US" sz="1300" dirty="0"/>
          </a:p>
        </p:txBody>
      </p:sp>
      <p:sp>
        <p:nvSpPr>
          <p:cNvPr id="7011" name="Text 9"/>
          <p:cNvSpPr txBox="1"/>
          <p:nvPr/>
        </p:nvSpPr>
        <p:spPr>
          <a:xfrm>
            <a:off x="3767328" y="1618488"/>
            <a:ext cx="101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Funciones SQL en Supabase</a:t>
            </a:r>
            <a:endParaRPr lang="en-US" sz="1100" dirty="0"/>
          </a:p>
        </p:txBody>
      </p:sp>
      <p:sp>
        <p:nvSpPr>
          <p:cNvPr id="7012" name="Base de datos"/>
          <p:cNvSpPr/>
          <p:nvPr/>
        </p:nvSpPr>
        <p:spPr>
          <a:xfrm>
            <a:off x="3657600" y="2880360"/>
            <a:ext cx="12344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013" name="Text 11"/>
          <p:cNvSpPr txBox="1"/>
          <p:nvPr/>
        </p:nvSpPr>
        <p:spPr>
          <a:xfrm>
            <a:off x="3767328" y="297180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Base de datos</a:t>
            </a:r>
            <a:endParaRPr lang="en-US" sz="1300" dirty="0"/>
          </a:p>
        </p:txBody>
      </p:sp>
      <p:sp>
        <p:nvSpPr>
          <p:cNvPr id="7014" name="Text 12"/>
          <p:cNvSpPr txBox="1"/>
          <p:nvPr/>
        </p:nvSpPr>
        <p:spPr>
          <a:xfrm>
            <a:off x="3767328" y="3264408"/>
            <a:ext cx="101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Postgres en Supabase</a:t>
            </a:r>
            <a:endParaRPr lang="en-US" sz="1100" dirty="0"/>
          </a:p>
        </p:txBody>
      </p:sp>
      <p:sp>
        <p:nvSpPr>
          <p:cNvPr id="7015" name="IA / LLM"/>
          <p:cNvSpPr/>
          <p:nvPr/>
        </p:nvSpPr>
        <p:spPr>
          <a:xfrm>
            <a:off x="2057400" y="2880360"/>
            <a:ext cx="1234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016" name="Text 14"/>
          <p:cNvSpPr txBox="1"/>
          <p:nvPr/>
        </p:nvSpPr>
        <p:spPr>
          <a:xfrm>
            <a:off x="2167128" y="297180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IA / LLM</a:t>
            </a:r>
            <a:endParaRPr lang="en-US" sz="1300" dirty="0"/>
          </a:p>
        </p:txBody>
      </p:sp>
      <p:sp>
        <p:nvSpPr>
          <p:cNvPr id="7017" name="Text 15"/>
          <p:cNvSpPr txBox="1"/>
          <p:nvPr/>
        </p:nvSpPr>
        <p:spPr>
          <a:xfrm>
            <a:off x="2167128" y="3264408"/>
            <a:ext cx="101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Ninguno en la Fase 1</a:t>
            </a:r>
            <a:endParaRPr lang="en-US" sz="1100" dirty="0"/>
          </a:p>
        </p:txBody>
      </p:sp>
      <p:sp>
        <p:nvSpPr>
          <p:cNvPr id="7018" name="Integraciones"/>
          <p:cNvSpPr/>
          <p:nvPr/>
        </p:nvSpPr>
        <p:spPr>
          <a:xfrm>
            <a:off x="457200" y="2880360"/>
            <a:ext cx="123444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019" name="Text 17"/>
          <p:cNvSpPr txBox="1"/>
          <p:nvPr/>
        </p:nvSpPr>
        <p:spPr>
          <a:xfrm>
            <a:off x="566928" y="297180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Integraciones</a:t>
            </a:r>
            <a:endParaRPr lang="en-US" sz="1300" dirty="0"/>
          </a:p>
        </p:txBody>
      </p:sp>
      <p:sp>
        <p:nvSpPr>
          <p:cNvPr id="7020" name="Text 18"/>
          <p:cNvSpPr txBox="1"/>
          <p:nvPr/>
        </p:nvSpPr>
        <p:spPr>
          <a:xfrm>
            <a:off x="566928" y="3264408"/>
            <a:ext cx="101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Ninguna (Fase 2)</a:t>
            </a:r>
            <a:endParaRPr lang="en-US" sz="1100" dirty="0"/>
          </a:p>
        </p:txBody>
      </p:sp>
      <p:sp>
        <p:nvSpPr>
          <p:cNvPr id="7021" name="Shape 19"/>
          <p:cNvSpPr/>
          <p:nvPr/>
        </p:nvSpPr>
        <p:spPr>
          <a:xfrm>
            <a:off x="1691640" y="1664208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022" name="Shape 20"/>
          <p:cNvSpPr/>
          <p:nvPr/>
        </p:nvSpPr>
        <p:spPr>
          <a:xfrm>
            <a:off x="3291840" y="1664208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023" name="Shape 21"/>
          <p:cNvSpPr/>
          <p:nvPr/>
        </p:nvSpPr>
        <p:spPr>
          <a:xfrm>
            <a:off x="4270248" y="2103120"/>
            <a:ext cx="0" cy="7772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024" name="Shape 22"/>
          <p:cNvSpPr/>
          <p:nvPr/>
        </p:nvSpPr>
        <p:spPr>
          <a:xfrm>
            <a:off x="3657600" y="2057400"/>
            <a:ext cx="-685800" cy="82296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025" name="Shape 23"/>
          <p:cNvSpPr/>
          <p:nvPr/>
        </p:nvSpPr>
        <p:spPr>
          <a:xfrm>
            <a:off x="3657600" y="2011680"/>
            <a:ext cx="-2194560" cy="8686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026" name="Text 24"/>
          <p:cNvSpPr txBox="1"/>
          <p:nvPr/>
        </p:nvSpPr>
        <p:spPr>
          <a:xfrm>
            <a:off x="457200" y="3931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Sin servidor propio: la lógica del chat y el aislamiento viven en la base de datos.</a:t>
            </a:r>
            <a:endParaRPr lang="en-US" sz="1100" dirty="0"/>
          </a:p>
        </p:txBody>
      </p:sp>
      <p:sp>
        <p:nvSpPr>
          <p:cNvPr id="7027" name="Stack"/>
          <p:cNvSpPr/>
          <p:nvPr/>
        </p:nvSpPr>
        <p:spPr>
          <a:xfrm>
            <a:off x="5349240" y="1051560"/>
            <a:ext cx="3337560" cy="342900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028" name="Text 26"/>
          <p:cNvSpPr txBox="1"/>
          <p:nvPr/>
        </p:nvSpPr>
        <p:spPr>
          <a:xfrm>
            <a:off x="5532120" y="1188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STACK</a:t>
            </a:r>
            <a:endParaRPr lang="en-US" sz="1100" dirty="0"/>
          </a:p>
        </p:txBody>
      </p:sp>
      <p:sp>
        <p:nvSpPr>
          <p:cNvPr id="7029" name="Text 27"/>
          <p:cNvSpPr txBox="1"/>
          <p:nvPr/>
        </p:nvSpPr>
        <p:spPr>
          <a:xfrm>
            <a:off x="5532120" y="15361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Frontend:  </a:t>
            </a:r>
            <a:r>
              <a:rPr lang="en-US" sz="1300" dirty="0">
                <a:solidFill>
                  <a:schemeClr val="tx2"/>
                </a:solidFill>
              </a:rPr>
              <a:t>Vite + HTML/JS</a:t>
            </a:r>
            <a:endParaRPr lang="en-US" sz="1300" dirty="0"/>
          </a:p>
        </p:txBody>
      </p:sp>
      <p:sp>
        <p:nvSpPr>
          <p:cNvPr id="7030" name="Text 28"/>
          <p:cNvSpPr txBox="1"/>
          <p:nvPr/>
        </p:nvSpPr>
        <p:spPr>
          <a:xfrm>
            <a:off x="5532120" y="19385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Backend:  </a:t>
            </a:r>
            <a:r>
              <a:rPr lang="en-US" sz="1300" dirty="0">
                <a:solidFill>
                  <a:schemeClr val="tx2"/>
                </a:solidFill>
              </a:rPr>
              <a:t>Supabase</a:t>
            </a:r>
            <a:endParaRPr lang="en-US" sz="1300" dirty="0"/>
          </a:p>
        </p:txBody>
      </p:sp>
      <p:sp>
        <p:nvSpPr>
          <p:cNvPr id="7031" name="Text 29"/>
          <p:cNvSpPr txBox="1"/>
          <p:nvPr/>
        </p:nvSpPr>
        <p:spPr>
          <a:xfrm>
            <a:off x="5532120" y="23408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Base de datos:  </a:t>
            </a:r>
            <a:r>
              <a:rPr lang="en-US" sz="1300" dirty="0">
                <a:solidFill>
                  <a:schemeClr val="tx2"/>
                </a:solidFill>
              </a:rPr>
              <a:t>Postgres</a:t>
            </a:r>
            <a:endParaRPr lang="en-US" sz="1300" dirty="0"/>
          </a:p>
        </p:txBody>
      </p:sp>
      <p:sp>
        <p:nvSpPr>
          <p:cNvPr id="7032" name="Text 30"/>
          <p:cNvSpPr txBox="1"/>
          <p:nvPr/>
        </p:nvSpPr>
        <p:spPr>
          <a:xfrm>
            <a:off x="5532120" y="27432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IA / LLM:  </a:t>
            </a:r>
            <a:r>
              <a:rPr lang="en-US" sz="1300" dirty="0">
                <a:solidFill>
                  <a:schemeClr val="tx2"/>
                </a:solidFill>
              </a:rPr>
              <a:t>ninguno (Fase 1)</a:t>
            </a:r>
            <a:endParaRPr lang="en-US" sz="1300" dirty="0"/>
          </a:p>
        </p:txBody>
      </p:sp>
      <p:sp>
        <p:nvSpPr>
          <p:cNvPr id="7033" name="Text 31"/>
          <p:cNvSpPr txBox="1"/>
          <p:nvPr/>
        </p:nvSpPr>
        <p:spPr>
          <a:xfrm>
            <a:off x="5532120" y="31455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Integraciones:  </a:t>
            </a:r>
            <a:r>
              <a:rPr lang="en-US" sz="1300" dirty="0">
                <a:solidFill>
                  <a:schemeClr val="tx2"/>
                </a:solidFill>
              </a:rPr>
              <a:t>Fase 2</a:t>
            </a:r>
            <a:endParaRPr lang="en-US" sz="1300" dirty="0"/>
          </a:p>
        </p:txBody>
      </p:sp>
      <p:sp>
        <p:nvSpPr>
          <p:cNvPr id="7034" name="Text 32"/>
          <p:cNvSpPr txBox="1"/>
          <p:nvPr/>
        </p:nvSpPr>
        <p:spPr>
          <a:xfrm>
            <a:off x="5532120" y="3547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Hosting / deploy:  </a:t>
            </a:r>
            <a:r>
              <a:rPr lang="en-US" sz="1300" dirty="0">
                <a:solidFill>
                  <a:schemeClr val="tx2"/>
                </a:solidFill>
              </a:rPr>
              <a:t>Vercel</a:t>
            </a:r>
            <a:endParaRPr lang="en-US" sz="1300" dirty="0"/>
          </a:p>
        </p:txBody>
      </p:sp>
      <p:sp>
        <p:nvSpPr>
          <p:cNvPr id="7035" name="Text 33"/>
          <p:cNvSpPr txBox="1"/>
          <p:nvPr/>
        </p:nvSpPr>
        <p:spPr>
          <a:xfrm>
            <a:off x="5532120" y="39502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Repositorio:  </a:t>
            </a:r>
            <a:r>
              <a:rPr lang="en-US" sz="1300" dirty="0">
                <a:solidFill>
                  <a:schemeClr val="tx2"/>
                </a:solidFill>
              </a:rPr>
              <a:t>GitHub privado</a:t>
            </a:r>
            <a:endParaRPr lang="en-US" sz="1300" dirty="0"/>
          </a:p>
        </p:txBody>
      </p:sp>
      <p:sp>
        <p:nvSpPr>
          <p:cNvPr id="7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8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Implementación: decisiones clave</a:t>
            </a:r>
            <a:endParaRPr lang="en-US" sz="2800" dirty="0"/>
          </a:p>
        </p:txBody>
      </p:sp>
      <p:sp>
        <p:nvSpPr>
          <p:cNvPr id="8003" name="Modelo de datos"/>
          <p:cNvSpPr/>
          <p:nvPr/>
        </p:nvSpPr>
        <p:spPr>
          <a:xfrm>
            <a:off x="457200" y="1051560"/>
            <a:ext cx="261518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004" name="Text 2"/>
          <p:cNvSpPr txBox="1"/>
          <p:nvPr/>
        </p:nvSpPr>
        <p:spPr>
          <a:xfrm>
            <a:off x="621792" y="121615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005" name="Text 3"/>
          <p:cNvSpPr txBox="1"/>
          <p:nvPr/>
        </p:nvSpPr>
        <p:spPr>
          <a:xfrm>
            <a:off x="1051560" y="1207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Modelo de datos</a:t>
            </a:r>
            <a:endParaRPr lang="en-US" sz="1400" dirty="0"/>
          </a:p>
        </p:txBody>
      </p:sp>
      <p:sp>
        <p:nvSpPr>
          <p:cNvPr id="8006" name="Text 19"/>
          <p:cNvSpPr txBox="1"/>
          <p:nvPr/>
        </p:nvSpPr>
        <p:spPr>
          <a:xfrm>
            <a:off x="621792" y="1673352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Negocios, miembros, preguntas, conversaciones, mensajes y avisos; todo lleva el id del negocio. Lo crítico: las respuestas del dueño.</a:t>
            </a:r>
            <a:endParaRPr lang="en-US" sz="1200" dirty="0"/>
          </a:p>
        </p:txBody>
      </p:sp>
      <p:sp>
        <p:nvSpPr>
          <p:cNvPr id="8007" name="Integraciones y APIs"/>
          <p:cNvSpPr/>
          <p:nvPr/>
        </p:nvSpPr>
        <p:spPr>
          <a:xfrm>
            <a:off x="3264408" y="1051560"/>
            <a:ext cx="261518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008" name="Text 6"/>
          <p:cNvSpPr txBox="1"/>
          <p:nvPr/>
        </p:nvSpPr>
        <p:spPr>
          <a:xfrm>
            <a:off x="3429000" y="121615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009" name="Text 7"/>
          <p:cNvSpPr txBox="1"/>
          <p:nvPr/>
        </p:nvSpPr>
        <p:spPr>
          <a:xfrm>
            <a:off x="3858768" y="1207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Integraciones y APIs</a:t>
            </a:r>
            <a:endParaRPr lang="en-US" sz="1400" dirty="0"/>
          </a:p>
        </p:txBody>
      </p:sp>
      <p:sp>
        <p:nvSpPr>
          <p:cNvPr id="8010" name="Text 19"/>
          <p:cNvSpPr txBox="1"/>
          <p:nvPr/>
        </p:nvSpPr>
        <p:spPr>
          <a:xfrm>
            <a:off x="3429000" y="1673352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Solo Supabase con llave pública; los datos los protegen reglas por fila. Si falla: «toca para reintentar» y nunca éxito falso.</a:t>
            </a:r>
            <a:endParaRPr lang="en-US" sz="1200" dirty="0"/>
          </a:p>
        </p:txBody>
      </p:sp>
      <p:sp>
        <p:nvSpPr>
          <p:cNvPr id="8011" name="Uso de IA"/>
          <p:cNvSpPr/>
          <p:nvPr/>
        </p:nvSpPr>
        <p:spPr>
          <a:xfrm>
            <a:off x="6071616" y="1051560"/>
            <a:ext cx="261518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012" name="Text 10"/>
          <p:cNvSpPr txBox="1"/>
          <p:nvPr/>
        </p:nvSpPr>
        <p:spPr>
          <a:xfrm>
            <a:off x="6236208" y="121615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8013" name="Text 11"/>
          <p:cNvSpPr txBox="1"/>
          <p:nvPr/>
        </p:nvSpPr>
        <p:spPr>
          <a:xfrm>
            <a:off x="6665976" y="1207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Uso de IA</a:t>
            </a:r>
            <a:endParaRPr lang="en-US" sz="1400" dirty="0"/>
          </a:p>
        </p:txBody>
      </p:sp>
      <p:sp>
        <p:nvSpPr>
          <p:cNvPr id="8014" name="Text 19"/>
          <p:cNvSpPr txBox="1"/>
          <p:nvPr/>
        </p:nvSpPr>
        <p:spPr>
          <a:xfrm>
            <a:off x="6236208" y="1673352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 usa modelo: busca la pregunta y contesta el texto exacto del dueño. $0 por mensaje. 107 de 108 bien, 0 inventadas.</a:t>
            </a:r>
            <a:endParaRPr lang="en-US" sz="1200" dirty="0"/>
          </a:p>
        </p:txBody>
      </p:sp>
      <p:sp>
        <p:nvSpPr>
          <p:cNvPr id="8015" name="Seguridad y accesos"/>
          <p:cNvSpPr/>
          <p:nvPr/>
        </p:nvSpPr>
        <p:spPr>
          <a:xfrm>
            <a:off x="457200" y="2834640"/>
            <a:ext cx="261518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016" name="Text 14"/>
          <p:cNvSpPr txBox="1"/>
          <p:nvPr/>
        </p:nvSpPr>
        <p:spPr>
          <a:xfrm>
            <a:off x="621792" y="299923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8017" name="Text 15"/>
          <p:cNvSpPr txBox="1"/>
          <p:nvPr/>
        </p:nvSpPr>
        <p:spPr>
          <a:xfrm>
            <a:off x="1051560" y="29900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Seguridad y accesos</a:t>
            </a:r>
            <a:endParaRPr lang="en-US" sz="1400" dirty="0"/>
          </a:p>
        </p:txBody>
      </p:sp>
      <p:sp>
        <p:nvSpPr>
          <p:cNvPr id="8018" name="Text 19"/>
          <p:cNvSpPr txBox="1"/>
          <p:nvPr/>
        </p:nvSpPr>
        <p:spPr>
          <a:xfrm>
            <a:off x="621792" y="3456432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Correo y contraseña; cada dueño solo ve su negocio (reglas por fila, prueba 6 de 6). Llaves fuera de GitHub. Falta aviso de privacidad.</a:t>
            </a:r>
            <a:endParaRPr lang="en-US" sz="1200" dirty="0"/>
          </a:p>
        </p:txBody>
      </p:sp>
      <p:sp>
        <p:nvSpPr>
          <p:cNvPr id="8019" name="Pruebas y calidad"/>
          <p:cNvSpPr/>
          <p:nvPr/>
        </p:nvSpPr>
        <p:spPr>
          <a:xfrm>
            <a:off x="3264408" y="2834640"/>
            <a:ext cx="261518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020" name="Text 18"/>
          <p:cNvSpPr txBox="1"/>
          <p:nvPr/>
        </p:nvSpPr>
        <p:spPr>
          <a:xfrm>
            <a:off x="3429000" y="299923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8021" name="Text 19"/>
          <p:cNvSpPr txBox="1"/>
          <p:nvPr/>
        </p:nvSpPr>
        <p:spPr>
          <a:xfrm>
            <a:off x="3858768" y="29900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Pruebas y calidad</a:t>
            </a:r>
            <a:endParaRPr lang="en-US" sz="1400" dirty="0"/>
          </a:p>
        </p:txBody>
      </p:sp>
      <p:sp>
        <p:nvSpPr>
          <p:cNvPr id="8022" name="Text 19"/>
          <p:cNvSpPr txBox="1"/>
          <p:nvPr/>
        </p:nvSpPr>
        <p:spPr>
          <a:xfrm>
            <a:off x="3429000" y="3456432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108 casos de chat, aislamiento con 3 cuentas, lenguaje y diseño. Probado con 2 negocios propios; validación real el 27 oct.</a:t>
            </a:r>
            <a:endParaRPr lang="en-US" sz="1200" dirty="0"/>
          </a:p>
        </p:txBody>
      </p:sp>
      <p:sp>
        <p:nvSpPr>
          <p:cNvPr id="8023" name="Deploy y operación"/>
          <p:cNvSpPr/>
          <p:nvPr/>
        </p:nvSpPr>
        <p:spPr>
          <a:xfrm>
            <a:off x="6071616" y="2834640"/>
            <a:ext cx="261518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024" name="Text 22"/>
          <p:cNvSpPr txBox="1"/>
          <p:nvPr/>
        </p:nvSpPr>
        <p:spPr>
          <a:xfrm>
            <a:off x="6236208" y="299923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8025" name="Text 23"/>
          <p:cNvSpPr txBox="1"/>
          <p:nvPr/>
        </p:nvSpPr>
        <p:spPr>
          <a:xfrm>
            <a:off x="6665976" y="29900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Deploy y operación</a:t>
            </a:r>
            <a:endParaRPr lang="en-US" sz="1400" dirty="0"/>
          </a:p>
        </p:txBody>
      </p:sp>
      <p:sp>
        <p:nvSpPr>
          <p:cNvPr id="8026" name="Text 19"/>
          <p:cNvSpPr txBox="1"/>
          <p:nvPr/>
        </p:nvSpPr>
        <p:spPr>
          <a:xfrm>
            <a:off x="6236208" y="3456432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Vercel publica cada cambio de GitHub; la base cambia con migraciones versionadas. Todavía sin alertas automáticas.</a:t>
            </a:r>
            <a:endParaRPr lang="en-US" sz="1200" dirty="0"/>
          </a:p>
        </p:txBody>
      </p:sp>
      <p:sp>
        <p:nvSpPr>
          <p:cNvPr id="8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9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Estado, métricas y siguientes pasos</a:t>
            </a:r>
            <a:endParaRPr lang="en-US" sz="2800" dirty="0"/>
          </a:p>
        </p:txBody>
      </p:sp>
      <p:sp>
        <p:nvSpPr>
          <p:cNvPr id="9003" name="Métrica 1"/>
          <p:cNvSpPr/>
          <p:nvPr/>
        </p:nvSpPr>
        <p:spPr>
          <a:xfrm>
            <a:off x="457200" y="105156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9004" name="Text 2"/>
          <p:cNvSpPr txBox="1"/>
          <p:nvPr/>
        </p:nvSpPr>
        <p:spPr>
          <a:xfrm>
            <a:off x="621792" y="11247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90 %</a:t>
            </a:r>
            <a:endParaRPr lang="en-US" sz="3000" dirty="0"/>
          </a:p>
        </p:txBody>
      </p:sp>
      <p:sp>
        <p:nvSpPr>
          <p:cNvPr id="9005" name="Text 3"/>
          <p:cNvSpPr txBox="1"/>
          <p:nvPr/>
        </p:nvSpPr>
        <p:spPr>
          <a:xfrm>
            <a:off x="621792" y="1673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Avance del MVP</a:t>
            </a:r>
            <a:endParaRPr lang="en-US" sz="1200" dirty="0"/>
          </a:p>
        </p:txBody>
      </p:sp>
      <p:sp>
        <p:nvSpPr>
          <p:cNvPr id="9006" name="Métrica 2"/>
          <p:cNvSpPr/>
          <p:nvPr/>
        </p:nvSpPr>
        <p:spPr>
          <a:xfrm>
            <a:off x="457200" y="2212848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9007" name="Text 5"/>
          <p:cNvSpPr txBox="1"/>
          <p:nvPr/>
        </p:nvSpPr>
        <p:spPr>
          <a:xfrm>
            <a:off x="621792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9008" name="Text 6"/>
          <p:cNvSpPr txBox="1"/>
          <p:nvPr/>
        </p:nvSpPr>
        <p:spPr>
          <a:xfrm>
            <a:off x="621792" y="2834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Negocios probados por Arleth</a:t>
            </a:r>
            <a:endParaRPr lang="en-US" sz="1200" dirty="0"/>
          </a:p>
        </p:txBody>
      </p:sp>
      <p:sp>
        <p:nvSpPr>
          <p:cNvPr id="9009" name="Métrica 3"/>
          <p:cNvSpPr/>
          <p:nvPr/>
        </p:nvSpPr>
        <p:spPr>
          <a:xfrm>
            <a:off x="457200" y="3374136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9010" name="Text 8"/>
          <p:cNvSpPr txBox="1"/>
          <p:nvPr/>
        </p:nvSpPr>
        <p:spPr>
          <a:xfrm>
            <a:off x="621792" y="3447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107 / 108</a:t>
            </a:r>
            <a:endParaRPr lang="en-US" sz="3000" dirty="0"/>
          </a:p>
        </p:txBody>
      </p:sp>
      <p:sp>
        <p:nvSpPr>
          <p:cNvPr id="9011" name="Text 9"/>
          <p:cNvSpPr txBox="1"/>
          <p:nvPr/>
        </p:nvSpPr>
        <p:spPr>
          <a:xfrm>
            <a:off x="621792" y="39959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Respuestas bien, 0 inventadas</a:t>
            </a:r>
            <a:endParaRPr lang="en-US" sz="1200" dirty="0"/>
          </a:p>
        </p:txBody>
      </p:sp>
      <p:sp>
        <p:nvSpPr>
          <p:cNvPr id="9012" name="Riesgos"/>
          <p:cNvSpPr/>
          <p:nvPr/>
        </p:nvSpPr>
        <p:spPr>
          <a:xfrm>
            <a:off x="3108960" y="1051560"/>
            <a:ext cx="2651760" cy="3328416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013" name="Text 11"/>
          <p:cNvSpPr txBox="1"/>
          <p:nvPr/>
        </p:nvSpPr>
        <p:spPr>
          <a:xfrm>
            <a:off x="329184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Riesgos y deuda técnica</a:t>
            </a:r>
            <a:endParaRPr lang="en-US" sz="1400" dirty="0"/>
          </a:p>
        </p:txBody>
      </p:sp>
      <p:sp>
        <p:nvSpPr>
          <p:cNvPr id="9014" name="Text 19"/>
          <p:cNvSpPr txBox="1"/>
          <p:nvPr/>
        </p:nvSpPr>
        <p:spPr>
          <a:xfrm>
            <a:off x="3291840" y="16002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Puede confundir servicios parecidos («permanente» contesta con keratina).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Atajos: sin confirmar correo, sin límite de mensajes, sin aviso de privacidad.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Depende de Supabase y Vercel gratis y de la aprobación de WhatsApp Business.</a:t>
            </a:r>
            <a:endParaRPr lang="en-US" sz="1200" dirty="0"/>
          </a:p>
        </p:txBody>
      </p:sp>
      <p:sp>
        <p:nvSpPr>
          <p:cNvPr id="9015" name="Próximos pasos"/>
          <p:cNvSpPr/>
          <p:nvPr/>
        </p:nvSpPr>
        <p:spPr>
          <a:xfrm>
            <a:off x="6035040" y="105156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016" name="Text 14"/>
          <p:cNvSpPr txBox="1"/>
          <p:nvPr/>
        </p:nvSpPr>
        <p:spPr>
          <a:xfrm>
            <a:off x="621792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Próximos pasos</a:t>
            </a:r>
            <a:endParaRPr lang="en-US" sz="1400" dirty="0"/>
          </a:p>
        </p:txBody>
      </p:sp>
      <p:sp>
        <p:nvSpPr>
          <p:cNvPr id="9017" name="Text 15"/>
          <p:cNvSpPr txBox="1"/>
          <p:nvPr/>
        </p:nvSpPr>
        <p:spPr>
          <a:xfrm>
            <a:off x="6217920" y="162763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018" name="Text 19"/>
          <p:cNvSpPr txBox="1"/>
          <p:nvPr/>
        </p:nvSpPr>
        <p:spPr>
          <a:xfrm>
            <a:off x="6656832" y="16276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Validación real · 27 oct</a:t>
            </a:r>
            <a:endParaRPr lang="en-US" sz="1200" dirty="0"/>
          </a:p>
        </p:txBody>
      </p:sp>
      <p:sp>
        <p:nvSpPr>
          <p:cNvPr id="9019" name="Text 17"/>
          <p:cNvSpPr txBox="1"/>
          <p:nvPr/>
        </p:nvSpPr>
        <p:spPr>
          <a:xfrm>
            <a:off x="6217920" y="213055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020" name="Text 19"/>
          <p:cNvSpPr txBox="1"/>
          <p:nvPr/>
        </p:nvSpPr>
        <p:spPr>
          <a:xfrm>
            <a:off x="6656832" y="21305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Revisión con Carlos · 28 oct</a:t>
            </a:r>
            <a:endParaRPr lang="en-US" sz="1200" dirty="0"/>
          </a:p>
        </p:txBody>
      </p:sp>
      <p:sp>
        <p:nvSpPr>
          <p:cNvPr id="9021" name="Text 19"/>
          <p:cNvSpPr txBox="1"/>
          <p:nvPr/>
        </p:nvSpPr>
        <p:spPr>
          <a:xfrm>
            <a:off x="6217920" y="263347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9022" name="Text 19"/>
          <p:cNvSpPr txBox="1"/>
          <p:nvPr/>
        </p:nvSpPr>
        <p:spPr>
          <a:xfrm>
            <a:off x="6656832" y="2633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Fase 2: WhatsApp real</a:t>
            </a:r>
            <a:endParaRPr lang="en-US" sz="1200" dirty="0"/>
          </a:p>
        </p:txBody>
      </p:sp>
      <p:sp>
        <p:nvSpPr>
          <p:cNvPr id="9023" name="Lo que necesito"/>
          <p:cNvSpPr/>
          <p:nvPr/>
        </p:nvSpPr>
        <p:spPr>
          <a:xfrm>
            <a:off x="6035040" y="3337560"/>
            <a:ext cx="2651760" cy="1042416"/>
          </a:xfrm>
          <a:prstGeom prst="roundRect">
            <a:avLst>
              <a:gd name="adj" fmla="val 70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024" name="Text 22"/>
          <p:cNvSpPr txBox="1"/>
          <p:nvPr/>
        </p:nvSpPr>
        <p:spPr>
          <a:xfrm>
            <a:off x="6217920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 que necesito</a:t>
            </a:r>
            <a:endParaRPr lang="en-US" sz="1400" dirty="0"/>
          </a:p>
        </p:txBody>
      </p:sp>
      <p:sp>
        <p:nvSpPr>
          <p:cNvPr id="9025" name="Text 23"/>
          <p:cNvSpPr txBox="1"/>
          <p:nvPr/>
        </p:nvSpPr>
        <p:spPr>
          <a:xfrm>
            <a:off x="621792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Aprobar integración, precio y gatillo; un negocio para validar; cuentas de Merkatics.</a:t>
            </a:r>
            <a:endParaRPr lang="en-US" sz="1200" dirty="0"/>
          </a:p>
        </p:txBody>
      </p:sp>
      <p:sp>
        <p:nvSpPr>
          <p:cNvPr id="9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wthLab Pitch">
  <a:themeElements>
    <a:clrScheme name="GrowthLab Pitch">
      <a:dk1>
        <a:srgbClr val="1A1A1A"/>
      </a:dk1>
      <a:lt1>
        <a:srgbClr val="FFFFFF"/>
      </a:lt1>
      <a:dk2>
        <a:srgbClr val="0F2A3D"/>
      </a:dk2>
      <a:lt2>
        <a:srgbClr val="EEF3F6"/>
      </a:lt2>
      <a:accent1>
        <a:srgbClr val="22C55E"/>
      </a:accent1>
      <a:accent2>
        <a:srgbClr val="0EA5E9"/>
      </a:accent2>
      <a:accent3>
        <a:srgbClr val="F59E0B"/>
      </a:accent3>
      <a:accent4>
        <a:srgbClr val="64748B"/>
      </a:accent4>
      <a:accent5>
        <a:srgbClr val="1E4D6B"/>
      </a:accent5>
      <a:accent6>
        <a:srgbClr val="E11D48"/>
      </a:accent6>
      <a:hlink>
        <a:srgbClr val="0EA5E9"/>
      </a:hlink>
      <a:folHlink>
        <a:srgbClr val="64748B"/>
      </a:folHlink>
    </a:clrScheme>
    <a:fontScheme name="GrowthLab Pit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presentación de proyecto GrowthLab</dc:title>
  <dc:subject>PptxGenJS Presentation</dc:subject>
  <dc:creator>Merkatics GrowthLab</dc:creator>
  <cp:lastModifiedBy>Merkatics GrowthLab</cp:lastModifiedBy>
  <cp:revision>1</cp:revision>
  <dcterms:created xsi:type="dcterms:W3CDTF">2026-10-23T13:51:27Z</dcterms:created>
  <dcterms:modified xsi:type="dcterms:W3CDTF">2026-10-23T13:51:27Z</dcterms:modified>
</cp:coreProperties>
</file>